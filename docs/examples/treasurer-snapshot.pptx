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8768" cy="41148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58768" y="0"/>
            <a:ext cx="8332927" cy="41148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8912" y="182880"/>
            <a:ext cx="530352" cy="530352"/>
          </a:xfrm>
          <a:prstGeom prst="ellipse">
            <a:avLst/>
          </a:prstGeom>
          <a:solidFill>
            <a:srgbClr val="12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8288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630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spc="80">
                <a:solidFill>
                  <a:srgbClr val="147D83"/>
                </a:solidFill>
                <a:latin typeface="Arial"/>
              </a:rPr>
              <a:t>EXAMPLE PTA · TREASURER · FICTIONAL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38328"/>
            <a:ext cx="6675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23F4A"/>
                </a:solidFill>
                <a:latin typeface="Arial"/>
              </a:rPr>
              <a:t>FINANCIAL SNAPSHOT — CASH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6583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July 1, 2025 → September 30, 2025 · latest balance for each account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646920" y="256032"/>
            <a:ext cx="2121408" cy="356616"/>
          </a:xfrm>
          <a:prstGeom prst="rect">
            <a:avLst/>
          </a:prstGeom>
          <a:solidFill>
            <a:srgbClr val="EAF3F1"/>
          </a:solidFill>
          <a:ln w="10160"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83496" y="256032"/>
            <a:ext cx="2048255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23F4A"/>
                </a:solidFill>
                <a:latin typeface="Arial"/>
              </a:rPr>
              <a:t>EXAMPLE SNAPSHOT · 30 SEP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024128"/>
            <a:ext cx="5513832" cy="1225296"/>
          </a:xfrm>
          <a:prstGeom prst="rect">
            <a:avLst/>
          </a:prstGeom>
          <a:solidFill>
            <a:srgbClr val="F4F8F7"/>
          </a:solidFill>
          <a:ln w="10160"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024128"/>
            <a:ext cx="50292" cy="1225296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1521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spc="60">
                <a:solidFill>
                  <a:srgbClr val="71838D"/>
                </a:solidFill>
                <a:latin typeface="Arial"/>
              </a:rPr>
              <a:t>BANK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344168"/>
            <a:ext cx="15270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123F4A"/>
                </a:solidFill>
                <a:latin typeface="Arial"/>
              </a:rPr>
              <a:t>$65.0K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746504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OPENING · 1 JUL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1992" y="1371600"/>
            <a:ext cx="4389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D83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1344168"/>
            <a:ext cx="14904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123F4A"/>
                </a:solidFill>
                <a:latin typeface="Arial"/>
              </a:rPr>
              <a:t>$54.5K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1746504"/>
            <a:ext cx="14356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LATEST SUPPLIED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1371600"/>
            <a:ext cx="13533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922F38"/>
                </a:solidFill>
                <a:latin typeface="Arial"/>
              </a:rPr>
              <a:t>−$10.5K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1664208"/>
            <a:ext cx="1399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22F38"/>
                </a:solidFill>
                <a:latin typeface="Arial"/>
              </a:rPr>
              <a:t>-16.2% vs opening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901952"/>
            <a:ext cx="1417320" cy="228600"/>
          </a:xfrm>
          <a:prstGeom prst="rect">
            <a:avLst/>
          </a:prstGeom>
          <a:solidFill>
            <a:srgbClr val="EAF3F1"/>
          </a:solidFill>
          <a:ln w="10160"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1901952"/>
            <a:ext cx="13441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23F4A"/>
                </a:solidFill>
                <a:latin typeface="Arial"/>
              </a:rPr>
              <a:t>Checking  $22.0K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1901952"/>
            <a:ext cx="118872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5416" y="190195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475D69"/>
                </a:solidFill>
                <a:latin typeface="Arial"/>
              </a:rPr>
              <a:t>Savings  $2.5K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1901952"/>
            <a:ext cx="2212848" cy="228600"/>
          </a:xfrm>
          <a:prstGeom prst="rect">
            <a:avLst/>
          </a:prstGeom>
          <a:solidFill>
            <a:srgbClr val="FFF7E7"/>
          </a:solidFill>
          <a:ln w="10160">
            <a:solidFill>
              <a:srgbClr val="EDB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5576" y="1901952"/>
            <a:ext cx="21396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A5716"/>
                </a:solidFill>
                <a:latin typeface="Arial"/>
              </a:rPr>
              <a:t>Time Account (Buffer)  $30.0K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9904" y="1024128"/>
            <a:ext cx="2715768" cy="1225296"/>
          </a:xfrm>
          <a:prstGeom prst="rect">
            <a:avLst/>
          </a:prstGeom>
          <a:solidFill>
            <a:srgbClr val="EDF8F1"/>
          </a:solidFill>
          <a:ln w="10160">
            <a:solidFill>
              <a:srgbClr val="80B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9904" y="1024128"/>
            <a:ext cx="50292" cy="1225296"/>
          </a:xfrm>
          <a:prstGeom prst="rect">
            <a:avLst/>
          </a:prstGeom>
          <a:solidFill>
            <a:srgbClr val="236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116128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spc="60">
                <a:solidFill>
                  <a:srgbClr val="236C48"/>
                </a:solidFill>
                <a:latin typeface="Arial"/>
              </a:rPr>
              <a:t>RAISED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13716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236C48"/>
                </a:solidFill>
                <a:latin typeface="Arial"/>
              </a:rPr>
              <a:t>$28.6K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1819656"/>
            <a:ext cx="2148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D69"/>
                </a:solidFill>
                <a:latin typeface="Arial"/>
              </a:rPr>
              <a:t>$28,600.00 · fundraising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2002536"/>
            <a:ext cx="2148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71838D"/>
                </a:solidFill>
                <a:latin typeface="Arial"/>
              </a:rPr>
              <a:t>+ $350 bank interest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9408" y="1024128"/>
            <a:ext cx="2798064" cy="1225296"/>
          </a:xfrm>
          <a:prstGeom prst="rect">
            <a:avLst/>
          </a:prstGeom>
          <a:solidFill>
            <a:srgbClr val="FFF1F2"/>
          </a:solidFill>
          <a:ln w="10160">
            <a:solidFill>
              <a:srgbClr val="D5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79408" y="1024128"/>
            <a:ext cx="50292" cy="1225296"/>
          </a:xfrm>
          <a:prstGeom prst="rect">
            <a:avLst/>
          </a:prstGeom>
          <a:solidFill>
            <a:srgbClr val="92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8008" y="116128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spc="60">
                <a:solidFill>
                  <a:srgbClr val="922F38"/>
                </a:solidFill>
                <a:latin typeface="Arial"/>
              </a:rPr>
              <a:t>NET SPENT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13716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922F38"/>
                </a:solidFill>
                <a:latin typeface="Arial"/>
              </a:rPr>
              <a:t>$17.4K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1819656"/>
            <a:ext cx="22402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D69"/>
                </a:solidFill>
                <a:latin typeface="Arial"/>
              </a:rPr>
              <a:t>$17,450.00 · current-board cash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8008" y="2002536"/>
            <a:ext cx="217627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71838D"/>
                </a:solidFill>
                <a:latin typeface="Arial"/>
              </a:rPr>
              <a:t>$22.0K legacy payment excluded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496312"/>
            <a:ext cx="4370832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" y="2697479"/>
            <a:ext cx="41148" cy="210312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2651760"/>
            <a:ext cx="38130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3F4A"/>
                </a:solidFill>
                <a:latin typeface="Arial"/>
              </a:rPr>
              <a:t>WHERE CASH WENT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2852928"/>
            <a:ext cx="381304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38D"/>
                </a:solidFill>
                <a:latin typeface="Arial"/>
              </a:rPr>
              <a:t>Current-board spend · prior-board settlement excluded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136391"/>
            <a:ext cx="3913632" cy="182880"/>
          </a:xfrm>
          <a:prstGeom prst="rect">
            <a:avLst/>
          </a:prstGeom>
          <a:solidFill>
            <a:srgbClr val="F4F8F7"/>
          </a:solidFill>
          <a:ln w="508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3136391"/>
            <a:ext cx="1771787" cy="182880"/>
          </a:xfrm>
          <a:prstGeom prst="rect">
            <a:avLst/>
          </a:prstGeom>
          <a:solidFill>
            <a:srgbClr val="718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11867" y="3136391"/>
            <a:ext cx="1401730" cy="18288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13598" y="3136391"/>
            <a:ext cx="470981" cy="182880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84579" y="3136391"/>
            <a:ext cx="269132" cy="182880"/>
          </a:xfrm>
          <a:prstGeom prst="rect">
            <a:avLst/>
          </a:prstGeom>
          <a:solidFill>
            <a:srgbClr val="8A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" y="3525012"/>
            <a:ext cx="91440" cy="91440"/>
          </a:xfrm>
          <a:prstGeom prst="rect">
            <a:avLst/>
          </a:prstGeom>
          <a:solidFill>
            <a:srgbClr val="718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3438144"/>
            <a:ext cx="24140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Classroom &amp; enrichment programs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343814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0323F"/>
                </a:solidFill>
                <a:latin typeface="Arial"/>
              </a:rPr>
              <a:t>$7,900.00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50791" y="3438144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45.3%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3854196"/>
            <a:ext cx="91440" cy="9144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3767328"/>
            <a:ext cx="24140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Volunteer reimbursements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376732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0323F"/>
                </a:solidFill>
                <a:latin typeface="Arial"/>
              </a:rPr>
              <a:t>$6,250.00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50791" y="3767328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35.8%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183380"/>
            <a:ext cx="91440" cy="91440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4096512"/>
            <a:ext cx="24140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Family events &amp; supplies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409651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0323F"/>
                </a:solidFill>
                <a:latin typeface="Arial"/>
              </a:rPr>
              <a:t>$2,100.00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50791" y="4096512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12.0%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4512564"/>
            <a:ext cx="91440" cy="91440"/>
          </a:xfrm>
          <a:prstGeom prst="rect">
            <a:avLst/>
          </a:prstGeom>
          <a:solidFill>
            <a:srgbClr val="8A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425696"/>
            <a:ext cx="24140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75D69"/>
                </a:solidFill>
                <a:latin typeface="Arial"/>
              </a:rPr>
              <a:t>Operations &amp; bank costs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442569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0323F"/>
                </a:solidFill>
                <a:latin typeface="Arial"/>
              </a:rPr>
              <a:t>$1,200.00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50791" y="4425696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6.9%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" y="4736592"/>
            <a:ext cx="3877056" cy="365760"/>
          </a:xfrm>
          <a:prstGeom prst="rect">
            <a:avLst/>
          </a:prstGeom>
          <a:solidFill>
            <a:srgbClr val="FFF7E7"/>
          </a:solidFill>
          <a:ln w="8890">
            <a:solidFill>
              <a:srgbClr val="EDB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" y="478231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A5716"/>
                </a:solidFill>
                <a:latin typeface="Arial"/>
              </a:rPr>
              <a:t>EXCLUDED · PRIOR BOARD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74520" y="4773168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8A5716"/>
                </a:solidFill>
                <a:latin typeface="Arial"/>
              </a:rPr>
              <a:t>$22,000.00 prior-year program payment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28616" y="2496312"/>
            <a:ext cx="2761488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129783" y="2697479"/>
            <a:ext cx="41148" cy="210312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48655" y="265176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3F4A"/>
                </a:solidFill>
                <a:latin typeface="Arial"/>
              </a:rPr>
              <a:t>WHERE FUNDS CAME FROM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48655" y="2852928"/>
            <a:ext cx="22402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38D"/>
                </a:solidFill>
                <a:latin typeface="Arial"/>
              </a:rPr>
              <a:t>Fundraising only · interest excluded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38928" y="3136391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Community donations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3096" y="3136391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$14,600.00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0608" y="3136391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51.05%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38928" y="3374135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138928" y="3374135"/>
            <a:ext cx="2377440" cy="50292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38928" y="3511296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Event deposits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83096" y="351129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$7,200.00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50608" y="35112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25.17%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38928" y="3749039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138928" y="3749039"/>
            <a:ext cx="1172436" cy="50292"/>
          </a:xfrm>
          <a:prstGeom prst="rect">
            <a:avLst/>
          </a:prstGeom>
          <a:solidFill>
            <a:srgbClr val="718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38928" y="3886200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Online giving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83096" y="38862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$3,600.00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50608" y="38862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12.59%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38928" y="4123944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138928" y="4123944"/>
            <a:ext cx="586218" cy="50292"/>
          </a:xfrm>
          <a:prstGeom prst="rect">
            <a:avLst/>
          </a:prstGeom>
          <a:solidFill>
            <a:srgbClr val="236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138928" y="4261104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Company matches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83096" y="42611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$2,100.00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50608" y="42611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7.34%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38928" y="4498848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138928" y="4498848"/>
            <a:ext cx="341960" cy="50292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38928" y="4636008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75D69"/>
                </a:solidFill>
                <a:latin typeface="Arial"/>
              </a:rPr>
              <a:t>Other fundraising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83096" y="46360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0323F"/>
                </a:solidFill>
                <a:latin typeface="Arial"/>
              </a:rPr>
              <a:t>$1,100.00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50608" y="46360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1838D"/>
                </a:solidFill>
                <a:latin typeface="Arial"/>
              </a:rPr>
              <a:t>3.85%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38928" y="4873752"/>
            <a:ext cx="2377440" cy="50292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38928" y="4873752"/>
            <a:ext cx="179122" cy="50292"/>
          </a:xfrm>
          <a:prstGeom prst="rect">
            <a:avLst/>
          </a:prstGeom>
          <a:solidFill>
            <a:srgbClr val="8A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129783" y="4892040"/>
            <a:ext cx="2359152" cy="283464"/>
          </a:xfrm>
          <a:prstGeom prst="rect">
            <a:avLst/>
          </a:prstGeom>
          <a:solidFill>
            <a:srgbClr val="FFF7E7"/>
          </a:solidFill>
          <a:ln w="8890">
            <a:solidFill>
              <a:srgbClr val="EDB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21224" y="4892040"/>
            <a:ext cx="21762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A5716"/>
                </a:solidFill>
                <a:latin typeface="Arial"/>
              </a:rPr>
              <a:t>Pending included: +$1.2K credits · −$450 debits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36408" y="2496312"/>
            <a:ext cx="3941063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0" y="2697479"/>
            <a:ext cx="41148" cy="210312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65592" y="2651760"/>
            <a:ext cx="34015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3F4A"/>
                </a:solidFill>
                <a:latin typeface="Arial"/>
              </a:rPr>
              <a:t>PROGRESS &amp; OUTLOOK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65592" y="2852928"/>
            <a:ext cx="340156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38D"/>
                </a:solidFill>
                <a:latin typeface="Arial"/>
              </a:rPr>
              <a:t>Current-board cash view vs annual budget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65008" y="3154680"/>
            <a:ext cx="198580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FUNDRAISING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37262" y="3154680"/>
            <a:ext cx="1811609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0323F"/>
                </a:solidFill>
                <a:latin typeface="Arial"/>
              </a:rPr>
              <a:t>$28.6K / $110.0K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65008" y="3410712"/>
            <a:ext cx="3483863" cy="137160"/>
          </a:xfrm>
          <a:prstGeom prst="rect">
            <a:avLst/>
          </a:prstGeom>
          <a:solidFill>
            <a:srgbClr val="F4F8F7"/>
          </a:solidFill>
          <a:ln w="508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65008" y="3410712"/>
            <a:ext cx="905804" cy="137160"/>
          </a:xfrm>
          <a:prstGeom prst="rect">
            <a:avLst/>
          </a:prstGeom>
          <a:solidFill>
            <a:srgbClr val="236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065008" y="359359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36C48"/>
                </a:solidFill>
                <a:latin typeface="Arial"/>
              </a:rPr>
              <a:t>26.0%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593592"/>
            <a:ext cx="2980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71838D"/>
                </a:solidFill>
                <a:latin typeface="Arial"/>
              </a:rPr>
              <a:t>budget goal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65008" y="3904487"/>
            <a:ext cx="198580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1838D"/>
                </a:solidFill>
                <a:latin typeface="Arial"/>
              </a:rPr>
              <a:t>SPENDING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37262" y="3904487"/>
            <a:ext cx="1811609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0323F"/>
                </a:solidFill>
                <a:latin typeface="Arial"/>
              </a:rPr>
              <a:t>$17.4K / $96.0K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65008" y="4160520"/>
            <a:ext cx="3483863" cy="137160"/>
          </a:xfrm>
          <a:prstGeom prst="rect">
            <a:avLst/>
          </a:prstGeom>
          <a:solidFill>
            <a:srgbClr val="F4F8F7"/>
          </a:solidFill>
          <a:ln w="508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065008" y="4160520"/>
            <a:ext cx="633264" cy="137160"/>
          </a:xfrm>
          <a:prstGeom prst="rect">
            <a:avLst/>
          </a:prstGeom>
          <a:solidFill>
            <a:srgbClr val="8A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65008" y="43434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8A5716"/>
                </a:solidFill>
                <a:latin typeface="Arial"/>
              </a:rPr>
              <a:t>18.2%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343400"/>
            <a:ext cx="2980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71838D"/>
                </a:solidFill>
                <a:latin typeface="Arial"/>
              </a:rPr>
              <a:t>expense budget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046720" y="4562856"/>
            <a:ext cx="3520439" cy="630936"/>
          </a:xfrm>
          <a:prstGeom prst="rect">
            <a:avLst/>
          </a:prstGeom>
          <a:solidFill>
            <a:srgbClr val="EDF8F1"/>
          </a:solidFill>
          <a:ln w="10160">
            <a:solidFill>
              <a:srgbClr val="80B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65592" y="4608576"/>
            <a:ext cx="32826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36C48"/>
                </a:solidFill>
                <a:latin typeface="Arial"/>
              </a:rPr>
              <a:t>EARLY SIGNAL: ON TRACK · 25.2% OF YEAR ELAPSED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165592" y="4809744"/>
            <a:ext cx="328269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36C48"/>
                </a:solidFill>
                <a:latin typeface="Arial"/>
              </a:rPr>
              <a:t>FUNDRAISING · ON PACE — 26.0% of annual goal raised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65592" y="4983480"/>
            <a:ext cx="328269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75D69"/>
                </a:solidFill>
                <a:latin typeface="Arial"/>
              </a:rPr>
              <a:t>SPENDING · WITHIN PACE — 18.2% of annual budget used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1480" y="5504688"/>
            <a:ext cx="11365992" cy="969264"/>
          </a:xfrm>
          <a:prstGeom prst="rect">
            <a:avLst/>
          </a:prstGeom>
          <a:solidFill>
            <a:srgbClr val="F4F8F7"/>
          </a:solidFill>
          <a:ln w="10160">
            <a:solidFill>
              <a:srgbClr val="CC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11480" y="5504688"/>
            <a:ext cx="50292" cy="969264"/>
          </a:xfrm>
          <a:prstGeom prst="rect">
            <a:avLst/>
          </a:prstGeom>
          <a:solidFill>
            <a:srgbClr val="EDB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8368" y="5623560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spc="60">
                <a:solidFill>
                  <a:srgbClr val="147D83"/>
                </a:solidFill>
                <a:latin typeface="Arial"/>
              </a:rPr>
              <a:t>THE STORY SO FAR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0552" y="5596128"/>
            <a:ext cx="9281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23F4A"/>
                </a:solidFill>
                <a:latin typeface="Arial"/>
              </a:rPr>
              <a:t>Cash is down 16.2% after a $22.0K payment for last year’s programs. This year’s board has raised $28.6K and spent $17,450, leaving $11,150 before interest. Fundraising is on pace and spending remains within the annual budget.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38912" y="651967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38D"/>
                </a:solidFill>
                <a:latin typeface="Arial"/>
              </a:rPr>
              <a:t>Fictional example: all balances as of September 30, 2025; pending activity included. The $22.0K prior-year payment reduces bank cash but is excluded from this year’s spending. Internal transfers excluded.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PTA Treasurer Snapshot</dc:title>
  <dc:subject>Fictional example of the treasurer snapshot prototype</dc:subject>
  <dc:creator>Example PTA</dc:creator>
  <cp:keywords>fictional, example, treasurer, snapshot</cp:keywords>
  <dc:description>Fictional names, balances, categories, and narrative for documentation.</dc:description>
  <cp:lastModifiedBy>Example PTA</cp:lastModifiedBy>
  <cp:revision>1</cp:revision>
  <dcterms:created xsi:type="dcterms:W3CDTF">2025-09-30T00:00:00Z</dcterms:created>
  <dcterms:modified xsi:type="dcterms:W3CDTF">2025-09-30T00:00:00Z</dcterms:modified>
  <cp:category/>
</cp:coreProperties>
</file>